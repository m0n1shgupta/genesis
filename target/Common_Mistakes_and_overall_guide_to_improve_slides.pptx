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608" y="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685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3F6AE4-B453-4DC2-8750-BF6636B4BFFB}"/>
              </a:ext>
            </a:extLst>
          </p:cNvPr>
          <p:cNvSpPr/>
          <p:nvPr/>
        </p:nvSpPr>
        <p:spPr>
          <a:xfrm>
            <a:off x="800100" y="863590"/>
            <a:ext cx="7543800" cy="34163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Slides feel like documents, not slides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Viewer doesn’t know where to look first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Content is not aligned to a consistent grid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Uneven spacing between sections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Elements feel “placed” not “designed”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Section 4 table: Looks like raw Excel pasted - No emphasis on trends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Icons are rarely used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SECTION 1, 2…” is present but: Not visually strong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Lists (bullet points) are used, Instead of Structured Frameworks or infographics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Overall there is no use of</a:t>
            </a:r>
            <a:r>
              <a:rPr lang="en-IN" sz="1200" dirty="0">
                <a:solidFill>
                  <a:schemeClr val="tx1"/>
                </a:solidFill>
              </a:rPr>
              <a:t> visual for: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AI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Cyber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Learning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Finance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</a:rPr>
              <a:t>Images are not used anywhere</a:t>
            </a:r>
          </a:p>
        </p:txBody>
      </p:sp>
    </p:spTree>
    <p:extLst>
      <p:ext uri="{BB962C8B-B14F-4D97-AF65-F5344CB8AC3E}">
        <p14:creationId xmlns:p14="http://schemas.microsoft.com/office/powerpoint/2010/main" val="2152910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ACCENTURE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Acquisition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in-depth examination of Accenture's tech acquisitions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2020 to 2025 and their effect on competitive strategy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3977640"/>
            <a:ext cx="1371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Intelligence Report  |  2020–2025</a:t>
            </a:r>
            <a:endParaRPr lang="en-US" sz="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4F5BD0-233D-4856-A411-F1DFB324812B}"/>
              </a:ext>
            </a:extLst>
          </p:cNvPr>
          <p:cNvSpPr/>
          <p:nvPr/>
        </p:nvSpPr>
        <p:spPr>
          <a:xfrm>
            <a:off x="-1165860" y="2941320"/>
            <a:ext cx="1333500" cy="85344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Blue Shape not properly aligned with the text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40EAE5-959B-4A78-8F77-EE7D0A86437A}"/>
              </a:ext>
            </a:extLst>
          </p:cNvPr>
          <p:cNvCxnSpPr>
            <a:stCxn id="9" idx="3"/>
            <a:endCxn id="7" idx="1"/>
          </p:cNvCxnSpPr>
          <p:nvPr/>
        </p:nvCxnSpPr>
        <p:spPr>
          <a:xfrm>
            <a:off x="167640" y="3368040"/>
            <a:ext cx="289560" cy="627888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8D2E3EB-590A-45B3-AAA7-0984F6DCDDAD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67640" y="3368040"/>
            <a:ext cx="373380" cy="7620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7DF9B17-2438-4C85-BF02-F50BA1215290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 flipV="1">
            <a:off x="167640" y="2103120"/>
            <a:ext cx="289560" cy="126492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326 Acquisitions. One Unified Vision.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20240" cy="105156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acquisitions (2020–2025)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463040"/>
            <a:ext cx="1920240" cy="105156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$6.6B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14600" y="2029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Invested in FY24 alone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463040"/>
            <a:ext cx="1920240" cy="105156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$5.9B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2029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bookings in FY25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29400" y="1463040"/>
            <a:ext cx="1920240" cy="105156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$2.7B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629400" y="2029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revenue in FY25 (+200%)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Halfspace, CyberCX, Altus Consulting &amp; Yumemi to lead in AI, cybersecurity, financial services &amp; design engineering.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Invested in learning platforms (Ascendient Learning, Aidemy) to build large-scale AI talent programs.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Sole-sourced, proactive acquisition model enabled Accenture to outpace competitors in both volume and deal value.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Reinvention Services model consolidates Strategy, Consulting, Song, Technology &amp; Operations into one AI-powered unit.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$865M restructuring, FY25 total revenue rose 7% to $69.7B — underscoring acquisitions as a growth engine.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Tech Acquisition Analysis | 2020–2025</a:t>
            </a:r>
            <a:endParaRPr lang="en-US" sz="7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C3BBB7-AEB5-4824-AE8A-2DD61411A63E}"/>
              </a:ext>
            </a:extLst>
          </p:cNvPr>
          <p:cNvSpPr/>
          <p:nvPr/>
        </p:nvSpPr>
        <p:spPr>
          <a:xfrm>
            <a:off x="-1165860" y="2941320"/>
            <a:ext cx="1333500" cy="85344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Slide is empty a lot of negative space here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1D3B90-FEF8-4F60-AC89-F2659435539E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167640" y="3368040"/>
            <a:ext cx="613410" cy="111506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5138A3-BD22-42F9-8C5F-0D11D3BA2CCE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167640" y="2057400"/>
            <a:ext cx="759460" cy="293878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DB6BABC0-984F-4778-BED3-B318A877C029}"/>
              </a:ext>
            </a:extLst>
          </p:cNvPr>
          <p:cNvSpPr/>
          <p:nvPr/>
        </p:nvSpPr>
        <p:spPr>
          <a:xfrm>
            <a:off x="-1165860" y="1630680"/>
            <a:ext cx="1333500" cy="85344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Not distributed properly within the boxes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793C988-BF4F-4D8B-AB4D-29ADC4D2D98E}"/>
              </a:ext>
            </a:extLst>
          </p:cNvPr>
          <p:cNvSpPr/>
          <p:nvPr/>
        </p:nvSpPr>
        <p:spPr>
          <a:xfrm>
            <a:off x="8686800" y="1321308"/>
            <a:ext cx="1920240" cy="13411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Numbers (e.g., 326 acquisitions, $6.6B) are not visually dominant enough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Context &amp; Acquisition Framework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141732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Digital Reinvention Era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4708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Acquisitions like NeuraFlash (agentic AI + Salesforce), SI&amp;C (data/AI in Japan), and Halfspace (Nordics AI) reflect Accenture's push to embed AI expertise globally.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31920" cy="141732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&amp; Talent Ecosystem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84708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Ascendient Learning and Aidemy advance the LearnVantage initiative — delivering AI reskilling at enterprise scale.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31920" cy="141732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1089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Cybersecurity Priority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40156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CyberCX (Asia-Pacific, +1,400 professionals) and IAMConcepts (Canada) fortify Accenture's largest-ever cyber practice.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3931920" cy="141732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31089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Reinvention Services Integration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40156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acquisitions feed into the Reinvention Services model (Sept 2025), a unified unit spanning five service lines with AI embedded at core.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Tech Acquisition Analysis | 2020–2025</a:t>
            </a:r>
            <a:endParaRPr lang="en-US" sz="7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4A4E13-142E-4E71-9393-7BC4C32DEB07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167640" y="2057400"/>
            <a:ext cx="759460" cy="293878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660D587-127F-43C3-A3A3-C19FE05C567E}"/>
              </a:ext>
            </a:extLst>
          </p:cNvPr>
          <p:cNvSpPr/>
          <p:nvPr/>
        </p:nvSpPr>
        <p:spPr>
          <a:xfrm>
            <a:off x="-1165860" y="1630680"/>
            <a:ext cx="1333500" cy="85344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Not distributed properly within the boxes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CD26AB-34B2-4643-ADE4-DD4689BAE459}"/>
              </a:ext>
            </a:extLst>
          </p:cNvPr>
          <p:cNvSpPr/>
          <p:nvPr/>
        </p:nvSpPr>
        <p:spPr>
          <a:xfrm>
            <a:off x="2651760" y="60960"/>
            <a:ext cx="2872740" cy="647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Could be created in an infographic style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2D7870-A3CD-47D5-9A3C-AFE3E6731EBE}"/>
              </a:ext>
            </a:extLst>
          </p:cNvPr>
          <p:cNvSpPr/>
          <p:nvPr/>
        </p:nvSpPr>
        <p:spPr>
          <a:xfrm>
            <a:off x="3690620" y="4537710"/>
            <a:ext cx="1762760" cy="647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The spacing throughout the slides is not consistent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152DB2B-E730-4C3C-81DD-2A00400240E9}"/>
              </a:ext>
            </a:extLst>
          </p:cNvPr>
          <p:cNvCxnSpPr>
            <a:cxnSpLocks/>
          </p:cNvCxnSpPr>
          <p:nvPr/>
        </p:nvCxnSpPr>
        <p:spPr>
          <a:xfrm flipV="1">
            <a:off x="4389120" y="3734308"/>
            <a:ext cx="365760" cy="0"/>
          </a:xfrm>
          <a:prstGeom prst="straightConnector1">
            <a:avLst/>
          </a:prstGeom>
          <a:ln w="12700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269A297-55BE-421E-8792-BD26C5EC5338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4572000" y="3787775"/>
            <a:ext cx="0" cy="749935"/>
          </a:xfrm>
          <a:prstGeom prst="straightConnector1">
            <a:avLst/>
          </a:prstGeom>
          <a:ln w="12700">
            <a:solidFill>
              <a:srgbClr val="FFF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Acquisition Trends &amp; Patterns (2020–2025)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286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Fiscal Year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Acquisitions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Investment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Key Focus Domains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Mixed: AI, Cloud, Cybersecurity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$4.2B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Digital, AI, 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$6.6B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Digital, AI, Cloud, Industry-Specific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 (YTD)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AI, Learning, Engineering, 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 Reach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Europe: Halfspace (Denmark), Sipal IPS (Italy), Systema (Germany), Soben (UK), Staufen AG (Germany)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Asia-Pacific: CyberCX (Australia), Yumemi (Japan), Aidemy (Japan), Percipient (Singapore)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America: IAMConcepts (Canada), NeuraFlash (US), Ascendient Learning (US)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Tech Acquisition Analysis | 2020–2025</a:t>
            </a:r>
            <a:endParaRPr lang="en-US" sz="7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7299D3-CC2C-4C79-A436-31149DCA3667}"/>
              </a:ext>
            </a:extLst>
          </p:cNvPr>
          <p:cNvSpPr/>
          <p:nvPr/>
        </p:nvSpPr>
        <p:spPr>
          <a:xfrm>
            <a:off x="2651760" y="4094480"/>
            <a:ext cx="2872740" cy="647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Flag could be added for </a:t>
            </a:r>
            <a:r>
              <a:rPr lang="en-US" sz="1200" dirty="0" err="1">
                <a:solidFill>
                  <a:schemeClr val="tx1"/>
                </a:solidFill>
              </a:rPr>
              <a:t>countires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5AE806-4E81-4329-8AB0-10524855EF66}"/>
              </a:ext>
            </a:extLst>
          </p:cNvPr>
          <p:cNvSpPr/>
          <p:nvPr/>
        </p:nvSpPr>
        <p:spPr>
          <a:xfrm>
            <a:off x="6605270" y="2247900"/>
            <a:ext cx="1762760" cy="647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Text should be middle aligned om this 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978065-15F4-4A29-B0FD-DCAAF7232BCF}"/>
              </a:ext>
            </a:extLst>
          </p:cNvPr>
          <p:cNvSpPr/>
          <p:nvPr/>
        </p:nvSpPr>
        <p:spPr>
          <a:xfrm>
            <a:off x="3089910" y="617982"/>
            <a:ext cx="2872740" cy="647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There should be no margins within text boxes which does not have any fill color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 Acquisitions by Domain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41732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Digital Transformation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47088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Halfspace (80 AI pros, Nordics), Yumemi (400 UX/dev, Japan), NeuraFlash (agentic AI, Salesforce), SI&amp;C (data/AI, Japan).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141732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554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Cybersecurity &amp; Identity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847088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CyberCX (A$1B+, 1,400 pros, Asia-Pacific) — Accenture's largest ever cyber deal. IAMConcepts (Canada, IAM for critical infrastructure).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51760" cy="141732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1554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&amp; Engineering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847088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Sipal IPS (250 aerospace pros, Italy), Systema (240+ MES/smart factory pros, Germany), Soben, IQT Group — all strengthening Industry X.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4023360" cy="141732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108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Learning, Reskilling &amp; Talent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40156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Ascendient Learning (850+ IT courses, 75 pros), Aidemy (130 AI/reskilling pros, Tokyo), TalentSprint — all fueling LearnVantage.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3017520"/>
            <a:ext cx="4069080" cy="141732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720" y="301752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31089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&amp; Advisory Services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401568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Altus Consulting (insurance &amp; investments advisory, UK). Allitix (73 Anaplan specialists, connected enterprise planning). Percipient (digital twin fintech, Singapore).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Tech Acquisition Analysis | 2020–2025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Outcomes &amp; Organizational Realignment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Successes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CyberCX and IAMConcepts effectively embedded into Accenture's global cybersecurity offerings.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Allitix (73 Anaplan specialists) rapidly scaled integrated enterprise planning.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Halfspace integration achieved low post-acquisition attrition; key talent retained.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Reinvention Services (Sept 2025) provides cohesive integration framework reducing siloed operations.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Challenges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82880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onboarding experiences &amp; cultural misalignment — especially in non-US regions.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value realization post-acquisition slower than expected due to client hesitancy.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fell 11,000 (791K → 779K) during restructuring; two acquisitions divested.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readiness gaps limit full integration effectiveness across service lines.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$865M Restructuring  |  77,000 AI &amp; Data Specialists  |  11,000 Headcount Reduction  |  2 Acquisitions Divested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Tech Acquisition Analysis | 2020–2025</a:t>
            </a:r>
            <a:endParaRPr lang="en-US" sz="7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A0A35C-74B4-4211-B4A5-624A7731F22E}"/>
              </a:ext>
            </a:extLst>
          </p:cNvPr>
          <p:cNvSpPr/>
          <p:nvPr/>
        </p:nvSpPr>
        <p:spPr>
          <a:xfrm>
            <a:off x="2359660" y="-296926"/>
            <a:ext cx="2872740" cy="647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 chart could be better here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34D3875-E07C-444B-8E16-8D149B535E4E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1554480" y="26924"/>
            <a:ext cx="805180" cy="1150112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776DC40-4B30-4476-997E-E5476B5D4F65}"/>
              </a:ext>
            </a:extLst>
          </p:cNvPr>
          <p:cNvSpPr/>
          <p:nvPr/>
        </p:nvSpPr>
        <p:spPr>
          <a:xfrm>
            <a:off x="2359660" y="2282190"/>
            <a:ext cx="2872740" cy="647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Spacing not consistent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&amp; Market Impact of Acquisitions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$69.7B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Total Revenue (+7% YoY)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55848" y="1463040"/>
            <a:ext cx="26517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55848" y="1508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$5.9B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55848" y="2084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Bookings (+~100%)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54496" y="1463040"/>
            <a:ext cx="26517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54496" y="1508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$2.7B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54496" y="2084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Revenue (+~200%)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Positioning Gains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Cybersecurity: $7.16B total revenue (Gartner 2024) — $4.23B Professional Services + $2.93B Managed Security.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market: Accenture's GenAI practice tripled in revenue within a single fiscal year.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Learning: LearnVantage now spans 850+ courses with AWS, SAP, NVIDIA, Microsoft certification tracks.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cybersecurity spending set to grow from $193B (2024) to $240B (2026); Accenture well-positioned.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Tech Acquisition Analysis | 2020–2025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Reinvention Services as a Competitive Lever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508760" cy="201168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508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1554480"/>
            <a:ext cx="1508760" cy="201168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48840" y="1554480"/>
            <a:ext cx="1508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1554480"/>
            <a:ext cx="1508760" cy="201168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0" y="1554480"/>
            <a:ext cx="1508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32120" y="1554480"/>
            <a:ext cx="1508760" cy="201168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32120" y="1554480"/>
            <a:ext cx="1508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23760" y="1554480"/>
            <a:ext cx="1508760" cy="201168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3760" y="1554480"/>
            <a:ext cx="1508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AI-EMBEDDED REINVENTION SERVICES MODEL  (Effective September 1, 2025 | Led by Manish Sharma, Chief Services Officer)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capabilities are embedded directly into service lines — not managed as standalone units.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gaps in AI autonomy, sovereign cybersecurity, enterprise planning &amp; reskilling simultaneously.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end-to-end, cross-service reinvention to clients via a single integrated unit.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Tech Acquisition Analysis | 2020–2025</a:t>
            </a:r>
            <a:endParaRPr lang="en-US" sz="7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0B75E4-7938-4AEB-B26F-ECD4D4229F1D}"/>
              </a:ext>
            </a:extLst>
          </p:cNvPr>
          <p:cNvSpPr/>
          <p:nvPr/>
        </p:nvSpPr>
        <p:spPr>
          <a:xfrm>
            <a:off x="712470" y="2795778"/>
            <a:ext cx="7701280" cy="647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Icons should be there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42C309-BA09-4602-9613-C49B6F197154}"/>
              </a:ext>
            </a:extLst>
          </p:cNvPr>
          <p:cNvSpPr/>
          <p:nvPr/>
        </p:nvSpPr>
        <p:spPr>
          <a:xfrm>
            <a:off x="3600442" y="4314628"/>
            <a:ext cx="1925335" cy="27699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1" anchor="ctr"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The color used is very faded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AC957B-F5A4-490F-9ADC-47EFAA7F93A9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4337050" y="3981450"/>
            <a:ext cx="226060" cy="333178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A7FFBF5-0A97-421C-A3DF-D4B11D625AA9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5525777" y="4453128"/>
            <a:ext cx="1226814" cy="505968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Forward-Looking Acquisition Opportunities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64592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864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4708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building autonomous, multi-step AI agents for enterprise workflows. Integrates into AI Refinery platform and Reinvention Services delivery.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164592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54864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554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Sovereign Cybersecurity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84708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Data-sovereignty enforcement, sovereign cloud infrastructure, national AI governance tools — critical in Europe and regulated markets.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51760" cy="1645920"/>
          </a:xfrm>
          <a:prstGeom prst="rect">
            <a:avLst/>
          </a:prstGeom>
          <a:solidFill>
            <a:srgbClr val="1B2E4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54864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1554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Learning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84708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learning, skills forecasting, immersive training platforms to strengthen LearnVantage and sustain enterprise AI adoption.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Creation Potential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deals open new revenue streams in AI orchestration services &amp; reusable agent frameworks.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cybersecurity market projected to grow from $31.5B (2025) to $93.8B by 2030 (CAGR: 24.4%).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cybersecurity firms ($50M–$300M ARR) increasingly seeking acquirers — 20-25% rise in inbound inquiries.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embedding AI into post-merger integration are 4× more likely to realize post-acquisition value.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Tech Acquisition Analysis | 2020–2025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8.1  Prioritized Domains &amp; Geographies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agentic AI firms in North America &amp; Europe.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cybersecurity footprint in Southeast Asia &amp; Middle East.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AI-powered learning platforms globally to support LearnVantage scale.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532888"/>
            <a:ext cx="8229600" cy="0"/>
          </a:xfrm>
          <a:prstGeom prst="line">
            <a:avLst/>
          </a:prstGeom>
          <a:noFill/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8.2  Integration Enhancements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agentic AI into post-merger integration workflows — 4× better value realization.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real-time analytics for cultural alignment and talent sentiment monitoring.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quantifiable change management plans with measurable retention milestones.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721608"/>
            <a:ext cx="8229600" cy="0"/>
          </a:xfrm>
          <a:prstGeom prst="line">
            <a:avLst/>
          </a:prstGeom>
          <a:noFill/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8.3  Reinvention Services Alignment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09651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firms capable of cross-service delivery across Strategy, Consulting, Technology, Operations &amp; Song.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explainable AI &amp; secure identity firms to reinforce trust-centric Reinvention Services.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digital-core modernization plays — firms with cloud-first, AI-ready infrastructure capabilities.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Tech Acquisition Analysis | 2020–2025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84048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7315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Acquisitions as a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Reinvention Engine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Accenture's disciplined M&amp;A approach — 326 acquisitions, unified into the Reinvention Services model 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transformed it from a consulting firm into a full-spectrum AI-powered reinvention partner.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Tech Acquisition Analysis  |  Strategic Intelligence Report  |  2020–2025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1477</Words>
  <Application>Microsoft Office PowerPoint</Application>
  <PresentationFormat>On-screen Show (16:9)</PresentationFormat>
  <Paragraphs>187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Accenture Tech Acquisition Analysis</dc:title>
  <dc:subject>PptxGenJS Presentation</dc:subject>
  <dc:creator>PptxGenJS</dc:creator>
  <cp:lastModifiedBy>rohit</cp:lastModifiedBy>
  <cp:revision>5</cp:revision>
  <dcterms:created xsi:type="dcterms:W3CDTF">2026-04-08T11:50:17Z</dcterms:created>
  <dcterms:modified xsi:type="dcterms:W3CDTF">2026-04-08T17:27:06Z</dcterms:modified>
</cp:coreProperties>
</file>